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526084"/>
            <a:ext cx="7143750" cy="1671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Algorithm Development for Seismic First Break Picking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915418" y="3340596"/>
            <a:ext cx="531316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and Automated Solution on HDF5 Datasets</a:t>
            </a:r>
            <a:endParaRPr lang="en-US" sz="170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82753" cy="7215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7231"/>
            <a:ext cx="4882753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4882753" cy="721519"/>
          </a:xfrm>
          <a:prstGeom prst="rect">
            <a:avLst/>
          </a:prstGeom>
          <a:noFill/>
          <a:ln/>
        </p:spPr>
        <p:txBody>
          <a:bodyPr wrap="square" lIns="680339" tIns="510286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and Problem Definition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992981"/>
            <a:ext cx="3786188" cy="307181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1364456"/>
            <a:ext cx="3357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are Seismic First Breaks?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85813" y="1716286"/>
            <a:ext cx="33575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Seismic first breaks are the initial arrivals of seismic waves at the receivers. These arrivals are fundamental data used to create the velocity model of the subsurface.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85813" y="2682032"/>
            <a:ext cx="33575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Their accurate detection is critical for the success of seismic refraction and tomography studies.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786313" y="992981"/>
            <a:ext cx="3786188" cy="307181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000625" y="1364456"/>
            <a:ext cx="3357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5000625" y="1716286"/>
            <a:ext cx="33575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create a robust, automated method that can accurately detect these first breaks regardless of varying signal-to-noise ratios and variations in first break line behavior across different seismic assets.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000625" y="2682032"/>
            <a:ext cx="33575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Automating the manual labeling process to save time and reduce costs.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666405" cy="7215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7231"/>
            <a:ext cx="2666405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2666405" cy="721519"/>
          </a:xfrm>
          <a:prstGeom prst="rect">
            <a:avLst/>
          </a:prstGeom>
          <a:noFill/>
          <a:ln/>
        </p:spPr>
        <p:txBody>
          <a:bodyPr wrap="square" lIns="680339" tIns="510286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992981"/>
            <a:ext cx="8001000" cy="167878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992981"/>
            <a:ext cx="1712630" cy="29110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276945"/>
            <a:ext cx="171263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992981"/>
            <a:ext cx="1712630" cy="291108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Field Name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2284130" y="992981"/>
            <a:ext cx="6288370" cy="29110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284130" y="1276945"/>
            <a:ext cx="628837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2284130" y="992981"/>
            <a:ext cx="6288370" cy="291108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Description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71500" y="1280517"/>
            <a:ext cx="1712630" cy="273248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data_array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2284130" y="1280517"/>
            <a:ext cx="6288370" cy="273248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2D array of all recorded seismic traces (trace count x sample count)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71500" y="1553766"/>
            <a:ext cx="1712630" cy="27682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SHOTID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284130" y="1553766"/>
            <a:ext cx="6288370" cy="27682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 identifiers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71500" y="1830586"/>
            <a:ext cx="1712630" cy="27682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REC_X / REC_Y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2284130" y="1830586"/>
            <a:ext cx="6288370" cy="27682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Receiver X and Y coordinates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571500" y="2107406"/>
            <a:ext cx="1712630" cy="27682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SAMP_RATE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2284130" y="2107406"/>
            <a:ext cx="6288370" cy="27682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Sampling rate (in microseconds)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571500" y="2384227"/>
            <a:ext cx="1712630" cy="27682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SPARE1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2284130" y="2384227"/>
            <a:ext cx="6288370" cy="27682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break time values (in ms)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0" y="2950369"/>
            <a:ext cx="9144000" cy="411435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dataset includes seismic traces from four different real-world seismic assets (Brunswick, Halfmile, Lalor, Sudbury) stored in HDF5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format. In this study, the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Halfmile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dataset, containing over 1 million traces, was used.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25553" cy="7215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7231"/>
            <a:ext cx="4425553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4425553" cy="721519"/>
          </a:xfrm>
          <a:prstGeom prst="rect">
            <a:avLst/>
          </a:prstGeom>
          <a:noFill/>
          <a:ln/>
        </p:spPr>
        <p:txBody>
          <a:bodyPr wrap="square" lIns="680339" tIns="510286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Methodology: Data Organization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992981"/>
            <a:ext cx="3786188" cy="321468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1364456"/>
            <a:ext cx="3357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Shot Gather Grouping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85813" y="1716286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Seismic data were first grouped according to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SHOTID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values. Each shot consists of a series of traces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providing a different perspective of the subsurface.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85813" y="2476314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However, traces in raw data are not always ordered by physical lines. This requires reorganizing the data for 2D imaging and spatial analysis.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786313" y="992981"/>
            <a:ext cx="3786188" cy="321468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000625" y="1364456"/>
            <a:ext cx="3357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 Detection with DBSCAN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5000625" y="1716286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receiver coordinates (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REC_X, REC_Y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the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seismic lines to which the traces belong were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identified.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000625" y="2476314"/>
            <a:ext cx="33575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DBSCAN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(Density-Based Spatial Clustering of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 with Noise) algorithm was used to separate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line structures from noise and organize each line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an independent 2D seismic image.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36444" cy="7215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7231"/>
            <a:ext cx="5836444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5836444" cy="721519"/>
          </a:xfrm>
          <a:prstGeom prst="rect">
            <a:avLst/>
          </a:prstGeom>
          <a:noFill/>
          <a:ln/>
        </p:spPr>
        <p:txBody>
          <a:bodyPr wrap="square" lIns="680339" tIns="510286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Methodology: Pre-processing and AIC Picker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992981"/>
            <a:ext cx="3786188" cy="321468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1364456"/>
            <a:ext cx="3357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Pre-processing (Filtering)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85813" y="1716286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5-80 Hz Bandpass Filter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was applied to clean low-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noise and high-frequency scattering in the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seismic data.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85813" y="2476314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process enhances the clarity of the first break signal, directly impacting the accuracy of the detection algorithm.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786313" y="992981"/>
            <a:ext cx="3786188" cy="321468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000625" y="1364456"/>
            <a:ext cx="3357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AIC Picker Algorithm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5000625" y="1716286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Akaike Information Criterion (AIC) identifies the point that minimizes the change in statistical properties (variance) of the signal.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5000625" y="2476314"/>
            <a:ext cx="3357563" cy="364331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000625" y="2476314"/>
            <a:ext cx="3357563" cy="3643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AIC(k) = k * log10(var(before)) + (n-k-1) * log10(var(after))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000625" y="2983520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method provides more robust results than traditional threshold methods, even in cases with low signal-to-noise ratios.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57925" cy="7215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7231"/>
            <a:ext cx="6257925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6257925" cy="721519"/>
          </a:xfrm>
          <a:prstGeom prst="rect">
            <a:avLst/>
          </a:prstGeom>
          <a:noFill/>
          <a:ln/>
        </p:spPr>
        <p:txBody>
          <a:bodyPr wrap="square" lIns="680339" tIns="510286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Methodology: Spatial Continuity and Smoothing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992981"/>
            <a:ext cx="3771900" cy="98762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221581"/>
            <a:ext cx="34861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Outlier Rejection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4375" y="1466255"/>
            <a:ext cx="3486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picks from the AIC picker can jump on noisy traces. By checking the time difference between adjacent traces, non-physical abrupt changes are identified.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2123480"/>
            <a:ext cx="3771900" cy="98762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2352080"/>
            <a:ext cx="34861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Filtering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4375" y="2596753"/>
            <a:ext cx="3486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median filter is applied to the predicted first break line to ensure spatial continuity. This process cleans up individual errors while preserving the overall trend of the line.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71500" y="3253978"/>
            <a:ext cx="3771900" cy="98762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14375" y="3482578"/>
            <a:ext cx="34861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Approach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4375" y="3727252"/>
            <a:ext cx="3486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combination of energy threshold and AIC methods, supported by median filtering, produces stable results across varying signal-to-noise ratios.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629150" y="992981"/>
            <a:ext cx="3943350" cy="2871788"/>
          </a:xfrm>
          <a:prstGeom prst="rect">
            <a:avLst/>
          </a:prstGeom>
          <a:solidFill>
            <a:srgbClr val="00000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992981"/>
            <a:ext cx="3929063" cy="28575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43438" y="3850481"/>
            <a:ext cx="3929063" cy="350044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2: First breaks picked by the developed algorithm (yellow line) and true labels (red dots).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18297" cy="7215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7231"/>
            <a:ext cx="3518297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3518297" cy="721519"/>
          </a:xfrm>
          <a:prstGeom prst="rect">
            <a:avLst/>
          </a:prstGeom>
          <a:noFill/>
          <a:ln/>
        </p:spPr>
        <p:txBody>
          <a:bodyPr wrap="square" lIns="680339" tIns="510286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and Visualization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992981"/>
            <a:ext cx="3786188" cy="307181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1364456"/>
            <a:ext cx="3357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Algorithm Performance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85813" y="1716286"/>
            <a:ext cx="33575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developed hybrid algorithm detects seismic first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breaks with high accuracy. The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AIC (Akaike Information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Criterion)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based approach has shown superior success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capturing abrupt changes in signal character.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85813" y="2682032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analysis confirms that the automatically detected points largely overlap with manual labels, maintaining continuity across seismic lines.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786313" y="992981"/>
            <a:ext cx="3786188" cy="307181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000625" y="1364456"/>
            <a:ext cx="3357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Validation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5000625" y="1716286"/>
            <a:ext cx="33575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Examination of seismic sections shows that the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 produces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results even in noisy regions.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000625" y="2270596"/>
            <a:ext cx="33575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particular, median filtering and spatial continuity checks minimize the impact of erroneous detections (outliers) on individual traces, creating a smooth first break line across the entire section.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039666" cy="7215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7231"/>
            <a:ext cx="3039666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3039666" cy="721519"/>
          </a:xfrm>
          <a:prstGeom prst="rect">
            <a:avLst/>
          </a:prstGeom>
          <a:noFill/>
          <a:ln/>
        </p:spPr>
        <p:txBody>
          <a:bodyPr wrap="square" lIns="680339" tIns="510286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Metrics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992981"/>
            <a:ext cx="3857625" cy="1643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1328738"/>
            <a:ext cx="3429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 Absolute Error (MAE)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5813" y="1609130"/>
            <a:ext cx="3429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85.83 ms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785813" y="2094905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deviation across all traces. Influenced by large errors in some noisy traces.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4714875" y="992981"/>
            <a:ext cx="3857625" cy="1643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929188" y="1328738"/>
            <a:ext cx="3429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Absolute Error (MdAE)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29188" y="1609130"/>
            <a:ext cx="3429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8.00 ms</a:t>
            </a:r>
            <a:endParaRPr lang="en-US" sz="2436" dirty="0"/>
          </a:p>
        </p:txBody>
      </p:sp>
      <p:sp>
        <p:nvSpPr>
          <p:cNvPr id="13" name="Text 10"/>
          <p:cNvSpPr/>
          <p:nvPr/>
        </p:nvSpPr>
        <p:spPr>
          <a:xfrm>
            <a:off x="4929188" y="2094905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value of the error distribution. Better reflects the typical performance and accuracy of the algorithm.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571500" y="3207544"/>
            <a:ext cx="8001000" cy="1055489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3207544"/>
            <a:ext cx="1828019" cy="27503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Metric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2399519" y="3207544"/>
            <a:ext cx="1282861" cy="27503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682380" y="3207544"/>
            <a:ext cx="4890120" cy="27503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Interpretation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71500" y="3482578"/>
            <a:ext cx="1828019" cy="25896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Sampling Interval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2399519" y="3482578"/>
            <a:ext cx="1282861" cy="25896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 ms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3682380" y="3482578"/>
            <a:ext cx="4890120" cy="25896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resolution of the dataset.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71500" y="3741539"/>
            <a:ext cx="1828019" cy="25896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MdAE / Sampling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2399519" y="3741539"/>
            <a:ext cx="1282861" cy="25896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Samples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3682380" y="3741539"/>
            <a:ext cx="4890120" cy="25896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error margin is approximately 4 sampling intervals.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571500" y="4000500"/>
            <a:ext cx="1828019" cy="25896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Rate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2399519" y="4000500"/>
            <a:ext cx="1282861" cy="25896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3682380" y="4000500"/>
            <a:ext cx="4890120" cy="25896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error is within acceptable limits for most traces.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41564" cy="7215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7231"/>
            <a:ext cx="3941564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3941564" cy="721519"/>
          </a:xfrm>
          <a:prstGeom prst="rect">
            <a:avLst/>
          </a:prstGeom>
          <a:noFill/>
          <a:ln/>
        </p:spPr>
        <p:txBody>
          <a:bodyPr wrap="square" lIns="680339" tIns="510286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and Future Work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992981"/>
            <a:ext cx="3786188" cy="321468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1364456"/>
            <a:ext cx="3357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Study Summary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85813" y="1716286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robust algorithm combining bandpass filtering, AIC picker, and median filtering was developed to automatically detect seismic first breaks.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85813" y="2476314"/>
            <a:ext cx="33575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algorithm demonstrated high accuracy with a median error of 8.00 ms compared to manual labels and successfully maintained spatial continuity across seismic lines.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786313" y="992981"/>
            <a:ext cx="3786188" cy="321468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000625" y="1364456"/>
            <a:ext cx="3357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Work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5000625" y="1716286"/>
            <a:ext cx="3357563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Extensive testing and parameter optimization on other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seismic assets (Brunswick, Lalor, Sudbury).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000625" y="2234878"/>
            <a:ext cx="3357563" cy="6171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of deep learning-based approaches to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performance in more complex noise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environments (low S/N).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000625" y="2959187"/>
            <a:ext cx="3357563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of the algorithm for real-time data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workflows and GPU acceleration support.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000625" y="1716286"/>
            <a:ext cx="7322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000625" y="2234878"/>
            <a:ext cx="7322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000625" y="2959187"/>
            <a:ext cx="7322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316611" cy="7215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7231"/>
            <a:ext cx="4316611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0"/>
            <a:ext cx="4316611" cy="721519"/>
          </a:xfrm>
          <a:prstGeom prst="rect">
            <a:avLst/>
          </a:prstGeom>
          <a:noFill/>
          <a:ln/>
        </p:spPr>
        <p:txBody>
          <a:bodyPr wrap="square" lIns="680339" tIns="510286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Code and Implementation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992981"/>
            <a:ext cx="3786188" cy="32146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1364456"/>
            <a:ext cx="3357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Functions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85813" y="1716286"/>
            <a:ext cx="3357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aic_picker(trace)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785813" y="1898452"/>
            <a:ext cx="335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Performs first break detection based on statistical variance changes.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785813" y="2384227"/>
            <a:ext cx="3357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bandpass_filter(data, low, high)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785813" y="2566392"/>
            <a:ext cx="3357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signal cleaning in the 5-80 Hz range.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785813" y="2880717"/>
            <a:ext cx="3357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pick_line_robust(line_data)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785813" y="3062883"/>
            <a:ext cx="3357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Spatially corrects AIC results using median filtering.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4786313" y="992981"/>
            <a:ext cx="3786188" cy="32146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000625" y="1364456"/>
            <a:ext cx="3357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Processing Pipeline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5000625" y="1716286"/>
            <a:ext cx="3357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Data Loading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000625" y="1898452"/>
            <a:ext cx="3357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TRACE_DATA and coordinates from the HDF5 file.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000625" y="2212777"/>
            <a:ext cx="3357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Clustering (DBSCAN)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5000625" y="2394942"/>
            <a:ext cx="3357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grouping of traces into receiver lines.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5000625" y="2709267"/>
            <a:ext cx="3357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Parallel Processing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000625" y="2891433"/>
            <a:ext cx="3357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filtering and detection for each line.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2026-03-19T18:54:19Z</dcterms:created>
  <dcterms:modified xsi:type="dcterms:W3CDTF">2026-03-19T18:54:19Z</dcterms:modified>
</cp:coreProperties>
</file>